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Inter Bold" charset="1" panose="02000503000000020004"/>
      <p:regular r:id="rId11"/>
    </p:embeddedFont>
    <p:embeddedFont>
      <p:font typeface="Inter Semi-Bold" charset="1" panose="02000503000000020004"/>
      <p:regular r:id="rId12"/>
    </p:embeddedFont>
    <p:embeddedFont>
      <p:font typeface="Inter Medium" charset="1" panose="02000503000000020004"/>
      <p:regular r:id="rId13"/>
    </p:embeddedFont>
    <p:embeddedFont>
      <p:font typeface="HK Grotesk Medium" charset="1" panose="00000600000000000000"/>
      <p:regular r:id="rId14"/>
    </p:embeddedFont>
    <p:embeddedFont>
      <p:font typeface="Inter Ultra-Bold" charset="1" panose="02000503000000020004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png" Type="http://schemas.openxmlformats.org/officeDocument/2006/relationships/image"/><Relationship Id="rId11" Target="../media/image14.png" Type="http://schemas.openxmlformats.org/officeDocument/2006/relationships/image"/><Relationship Id="rId12" Target="../media/image15.png" Type="http://schemas.openxmlformats.org/officeDocument/2006/relationships/image"/><Relationship Id="rId13" Target="../media/image4.png" Type="http://schemas.openxmlformats.org/officeDocument/2006/relationships/image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Relationship Id="rId5" Target="../media/image8.png" Type="http://schemas.openxmlformats.org/officeDocument/2006/relationships/image"/><Relationship Id="rId6" Target="../media/image9.png" Type="http://schemas.openxmlformats.org/officeDocument/2006/relationships/image"/><Relationship Id="rId7" Target="../media/image10.png" Type="http://schemas.openxmlformats.org/officeDocument/2006/relationships/image"/><Relationship Id="rId8" Target="../media/image11.pn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4.png" Type="http://schemas.openxmlformats.org/officeDocument/2006/relationships/image"/><Relationship Id="rId4" Target="../media/image17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.png" Type="http://schemas.openxmlformats.org/officeDocument/2006/relationships/image"/><Relationship Id="rId2" Target="../media/image18.png" Type="http://schemas.openxmlformats.org/officeDocument/2006/relationships/image"/><Relationship Id="rId3" Target="../media/image19.png" Type="http://schemas.openxmlformats.org/officeDocument/2006/relationships/image"/><Relationship Id="rId4" Target="../media/image20.png" Type="http://schemas.openxmlformats.org/officeDocument/2006/relationships/image"/><Relationship Id="rId5" Target="../media/image21.png" Type="http://schemas.openxmlformats.org/officeDocument/2006/relationships/image"/><Relationship Id="rId6" Target="../media/image22.png" Type="http://schemas.openxmlformats.org/officeDocument/2006/relationships/image"/><Relationship Id="rId7" Target="../media/image23.png" Type="http://schemas.openxmlformats.org/officeDocument/2006/relationships/image"/><Relationship Id="rId8" Target="../media/image24.png" Type="http://schemas.openxmlformats.org/officeDocument/2006/relationships/image"/><Relationship Id="rId9" Target="../media/image2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27.png" Type="http://schemas.openxmlformats.org/officeDocument/2006/relationships/image"/><Relationship Id="rId4" Target="../media/image28.png" Type="http://schemas.openxmlformats.org/officeDocument/2006/relationships/image"/><Relationship Id="rId5" Target="../media/image29.png" Type="http://schemas.openxmlformats.org/officeDocument/2006/relationships/image"/><Relationship Id="rId6" Target="../media/image30.png" Type="http://schemas.openxmlformats.org/officeDocument/2006/relationships/image"/><Relationship Id="rId7" Target="../media/image31.png" Type="http://schemas.openxmlformats.org/officeDocument/2006/relationships/image"/><Relationship Id="rId8" Target="../media/image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743962" y="0"/>
            <a:ext cx="10544038" cy="8122467"/>
          </a:xfrm>
          <a:custGeom>
            <a:avLst/>
            <a:gdLst/>
            <a:ahLst/>
            <a:cxnLst/>
            <a:rect r="r" b="b" t="t" l="l"/>
            <a:pathLst>
              <a:path h="8122467" w="10544038">
                <a:moveTo>
                  <a:pt x="0" y="0"/>
                </a:moveTo>
                <a:lnTo>
                  <a:pt x="10544038" y="0"/>
                </a:lnTo>
                <a:lnTo>
                  <a:pt x="10544038" y="8122467"/>
                </a:lnTo>
                <a:lnTo>
                  <a:pt x="0" y="8122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244" t="0" r="0" b="-269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800268" y="5619041"/>
            <a:ext cx="8487732" cy="3541964"/>
          </a:xfrm>
          <a:custGeom>
            <a:avLst/>
            <a:gdLst/>
            <a:ahLst/>
            <a:cxnLst/>
            <a:rect r="r" b="b" t="t" l="l"/>
            <a:pathLst>
              <a:path h="3541964" w="8487732">
                <a:moveTo>
                  <a:pt x="0" y="0"/>
                </a:moveTo>
                <a:lnTo>
                  <a:pt x="8487732" y="0"/>
                </a:lnTo>
                <a:lnTo>
                  <a:pt x="8487732" y="3541964"/>
                </a:lnTo>
                <a:lnTo>
                  <a:pt x="0" y="35419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28" t="-1543" r="0" b="-1543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6094417" y="0"/>
            <a:ext cx="2193583" cy="2193583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l="-25809" t="0" r="0" b="-4421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469247" y="1317213"/>
            <a:ext cx="9332360" cy="154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94"/>
              </a:lnSpc>
            </a:pPr>
            <a:r>
              <a:rPr lang="en-US" sz="11694" spc="-468" b="true">
                <a:solidFill>
                  <a:srgbClr val="F8F8F8"/>
                </a:solidFill>
                <a:latin typeface="Inter Bold"/>
                <a:ea typeface="Inter Bold"/>
                <a:cs typeface="Inter Bold"/>
                <a:sym typeface="Inter Bold"/>
              </a:rPr>
              <a:t>LifeBridgePro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29725" y="3279087"/>
            <a:ext cx="8642384" cy="33542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86"/>
              </a:lnSpc>
            </a:pPr>
            <a:r>
              <a:rPr lang="en-US" sz="5812" spc="-232" b="true">
                <a:solidFill>
                  <a:srgbClr val="F8F8F8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A </a:t>
            </a:r>
            <a:r>
              <a:rPr lang="en-US" sz="5812" spc="-232" b="true">
                <a:solidFill>
                  <a:srgbClr val="16A6ED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MySQL</a:t>
            </a:r>
            <a:r>
              <a:rPr lang="en-US" sz="5812" spc="-232" b="true">
                <a:solidFill>
                  <a:srgbClr val="F8F8F8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 clinic database for </a:t>
            </a:r>
            <a:r>
              <a:rPr lang="en-US" sz="5812" spc="-232" b="true">
                <a:solidFill>
                  <a:srgbClr val="16A6ED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patients, doctors, appointments, medicines,</a:t>
            </a:r>
            <a:r>
              <a:rPr lang="en-US" sz="5812" spc="-232" b="true">
                <a:solidFill>
                  <a:srgbClr val="F8F8F8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 and </a:t>
            </a:r>
            <a:r>
              <a:rPr lang="en-US" sz="5812" spc="-232" b="true">
                <a:solidFill>
                  <a:srgbClr val="16A6ED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bills.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78587" y="7356507"/>
            <a:ext cx="3756138" cy="52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84"/>
              </a:lnSpc>
            </a:pPr>
            <a:r>
              <a:rPr lang="en-US" sz="3637" spc="-145" b="true">
                <a:solidFill>
                  <a:srgbClr val="F8F8F8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Schema overview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92383" y="8109549"/>
            <a:ext cx="2376580" cy="52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84"/>
              </a:lnSpc>
            </a:pPr>
            <a:r>
              <a:rPr lang="en-US" sz="3637" spc="-145" b="true">
                <a:solidFill>
                  <a:srgbClr val="16A6ED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ER diagram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93320" y="8847531"/>
            <a:ext cx="2282866" cy="52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84"/>
              </a:lnSpc>
            </a:pPr>
            <a:r>
              <a:rPr lang="en-US" sz="3637" spc="-145" b="true">
                <a:solidFill>
                  <a:srgbClr val="F8F8F8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Workflows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95130" y="711858"/>
            <a:ext cx="7459630" cy="2736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539"/>
              </a:lnSpc>
            </a:pPr>
            <a:r>
              <a:rPr lang="en-US" sz="11091" spc="-330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Five tables.</a:t>
            </a:r>
          </a:p>
          <a:p>
            <a:pPr algn="l">
              <a:lnSpc>
                <a:spcPts val="10539"/>
              </a:lnSpc>
            </a:pPr>
            <a:r>
              <a:rPr lang="en-US" sz="11091" spc="-330" b="true">
                <a:solidFill>
                  <a:srgbClr val="0CA3E9"/>
                </a:solidFill>
                <a:latin typeface="Inter Bold"/>
                <a:ea typeface="Inter Bold"/>
                <a:cs typeface="Inter Bold"/>
                <a:sym typeface="Inter Bold"/>
              </a:rPr>
              <a:t>Clear rules.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700019" y="3837128"/>
            <a:ext cx="3226651" cy="863627"/>
          </a:xfrm>
          <a:custGeom>
            <a:avLst/>
            <a:gdLst/>
            <a:ahLst/>
            <a:cxnLst/>
            <a:rect r="r" b="b" t="t" l="l"/>
            <a:pathLst>
              <a:path h="863627" w="3226651">
                <a:moveTo>
                  <a:pt x="0" y="0"/>
                </a:moveTo>
                <a:lnTo>
                  <a:pt x="3226651" y="0"/>
                </a:lnTo>
                <a:lnTo>
                  <a:pt x="3226651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694" t="-22784" r="0" b="-2531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432070" y="4126331"/>
            <a:ext cx="1613385" cy="326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5"/>
              </a:lnSpc>
            </a:pPr>
            <a:r>
              <a:rPr lang="en-US" b="true" sz="2531" spc="-24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PATIENTS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700019" y="4635163"/>
            <a:ext cx="3226651" cy="3979243"/>
          </a:xfrm>
          <a:custGeom>
            <a:avLst/>
            <a:gdLst/>
            <a:ahLst/>
            <a:cxnLst/>
            <a:rect r="r" b="b" t="t" l="l"/>
            <a:pathLst>
              <a:path h="3979243" w="3226651">
                <a:moveTo>
                  <a:pt x="0" y="0"/>
                </a:moveTo>
                <a:lnTo>
                  <a:pt x="3226651" y="0"/>
                </a:lnTo>
                <a:lnTo>
                  <a:pt x="3226651" y="3979243"/>
                </a:lnTo>
                <a:lnTo>
                  <a:pt x="0" y="39792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694" t="-3571" r="0" b="-4395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046986" y="3826196"/>
            <a:ext cx="3314153" cy="874559"/>
          </a:xfrm>
          <a:custGeom>
            <a:avLst/>
            <a:gdLst/>
            <a:ahLst/>
            <a:cxnLst/>
            <a:rect r="r" b="b" t="t" l="l"/>
            <a:pathLst>
              <a:path h="874559" w="3314153">
                <a:moveTo>
                  <a:pt x="0" y="0"/>
                </a:moveTo>
                <a:lnTo>
                  <a:pt x="3314153" y="0"/>
                </a:lnTo>
                <a:lnTo>
                  <a:pt x="3314153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3960" t="-21250" r="-1320" b="-250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4878945" y="4126331"/>
            <a:ext cx="1602815" cy="326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5"/>
              </a:lnSpc>
            </a:pPr>
            <a:r>
              <a:rPr lang="en-US" b="true" sz="2531" spc="-24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DOCTORS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4046986" y="4635163"/>
            <a:ext cx="3314153" cy="3979243"/>
          </a:xfrm>
          <a:custGeom>
            <a:avLst/>
            <a:gdLst/>
            <a:ahLst/>
            <a:cxnLst/>
            <a:rect r="r" b="b" t="t" l="l"/>
            <a:pathLst>
              <a:path h="3979243" w="3314153">
                <a:moveTo>
                  <a:pt x="0" y="0"/>
                </a:moveTo>
                <a:lnTo>
                  <a:pt x="3314153" y="0"/>
                </a:lnTo>
                <a:lnTo>
                  <a:pt x="3314153" y="3979243"/>
                </a:lnTo>
                <a:lnTo>
                  <a:pt x="0" y="39792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3960" t="-3571" r="-1320" b="-4395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7492392" y="3826196"/>
            <a:ext cx="3489158" cy="885491"/>
          </a:xfrm>
          <a:custGeom>
            <a:avLst/>
            <a:gdLst/>
            <a:ahLst/>
            <a:cxnLst/>
            <a:rect r="r" b="b" t="t" l="l"/>
            <a:pathLst>
              <a:path h="885491" w="3489158">
                <a:moveTo>
                  <a:pt x="0" y="0"/>
                </a:moveTo>
                <a:lnTo>
                  <a:pt x="3489158" y="0"/>
                </a:lnTo>
                <a:lnTo>
                  <a:pt x="3489158" y="885491"/>
                </a:lnTo>
                <a:lnTo>
                  <a:pt x="0" y="88549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2821" t="-20987" r="-3761" b="-1234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7893586" y="4126331"/>
            <a:ext cx="2613163" cy="326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5"/>
              </a:lnSpc>
            </a:pPr>
            <a:r>
              <a:rPr lang="en-US" b="true" sz="2531" spc="-24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APPOINTMENTS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7481455" y="4635163"/>
            <a:ext cx="3500096" cy="3979243"/>
          </a:xfrm>
          <a:custGeom>
            <a:avLst/>
            <a:gdLst/>
            <a:ahLst/>
            <a:cxnLst/>
            <a:rect r="r" b="b" t="t" l="l"/>
            <a:pathLst>
              <a:path h="3979243" w="3500096">
                <a:moveTo>
                  <a:pt x="0" y="0"/>
                </a:moveTo>
                <a:lnTo>
                  <a:pt x="3500095" y="0"/>
                </a:lnTo>
                <a:lnTo>
                  <a:pt x="3500095" y="3979243"/>
                </a:lnTo>
                <a:lnTo>
                  <a:pt x="0" y="39792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2500" t="-3571" r="-3750" b="-4395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7795617" y="4948785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AppointmentID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795617" y="6484991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AppointmentDate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795617" y="6981998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AppointmentTime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11112804" y="3837128"/>
            <a:ext cx="3171962" cy="863627"/>
          </a:xfrm>
          <a:custGeom>
            <a:avLst/>
            <a:gdLst/>
            <a:ahLst/>
            <a:cxnLst/>
            <a:rect r="r" b="b" t="t" l="l"/>
            <a:pathLst>
              <a:path h="863627" w="3171962">
                <a:moveTo>
                  <a:pt x="0" y="0"/>
                </a:moveTo>
                <a:lnTo>
                  <a:pt x="3171962" y="0"/>
                </a:lnTo>
                <a:lnTo>
                  <a:pt x="3171962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44" t="-22784" r="-2758" b="-2531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11790269" y="4126331"/>
            <a:ext cx="1792454" cy="326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5"/>
              </a:lnSpc>
            </a:pPr>
            <a:r>
              <a:rPr lang="en-US" b="true" sz="2531" spc="-24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MEDICINES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11112804" y="4635163"/>
            <a:ext cx="3171962" cy="3979243"/>
          </a:xfrm>
          <a:custGeom>
            <a:avLst/>
            <a:gdLst/>
            <a:ahLst/>
            <a:cxnLst/>
            <a:rect r="r" b="b" t="t" l="l"/>
            <a:pathLst>
              <a:path h="3979243" w="3171962">
                <a:moveTo>
                  <a:pt x="0" y="0"/>
                </a:moveTo>
                <a:lnTo>
                  <a:pt x="3171962" y="0"/>
                </a:lnTo>
                <a:lnTo>
                  <a:pt x="3171962" y="3979243"/>
                </a:lnTo>
                <a:lnTo>
                  <a:pt x="0" y="397924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344" t="-3571" r="-2758" b="-4395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1465719" y="5475914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MedicineName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465719" y="6981998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StockQuantity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14416019" y="3837128"/>
            <a:ext cx="3161024" cy="863627"/>
          </a:xfrm>
          <a:custGeom>
            <a:avLst/>
            <a:gdLst/>
            <a:ahLst/>
            <a:cxnLst/>
            <a:rect r="r" b="b" t="t" l="l"/>
            <a:pathLst>
              <a:path h="863627" w="3161024">
                <a:moveTo>
                  <a:pt x="0" y="0"/>
                </a:moveTo>
                <a:lnTo>
                  <a:pt x="3161024" y="0"/>
                </a:lnTo>
                <a:lnTo>
                  <a:pt x="3161024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1730" t="-22784" r="-2076" b="-253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5571079" y="4126331"/>
            <a:ext cx="874523" cy="3265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5"/>
              </a:lnSpc>
            </a:pPr>
            <a:r>
              <a:rPr lang="en-US" b="true" sz="2531" spc="-24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BILLS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14416019" y="4646095"/>
            <a:ext cx="3161024" cy="3968311"/>
          </a:xfrm>
          <a:custGeom>
            <a:avLst/>
            <a:gdLst/>
            <a:ahLst/>
            <a:cxnLst/>
            <a:rect r="r" b="b" t="t" l="l"/>
            <a:pathLst>
              <a:path h="3968311" w="3161024">
                <a:moveTo>
                  <a:pt x="0" y="0"/>
                </a:moveTo>
                <a:lnTo>
                  <a:pt x="3161024" y="0"/>
                </a:lnTo>
                <a:lnTo>
                  <a:pt x="3161024" y="3968311"/>
                </a:lnTo>
                <a:lnTo>
                  <a:pt x="0" y="39683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1730" t="-3856" r="-2076" b="-4407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14760773" y="6018105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AppointmentID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30912" y="9134370"/>
            <a:ext cx="6560331" cy="4953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1"/>
              </a:lnSpc>
            </a:pPr>
            <a:r>
              <a:rPr lang="en-US" b="true" sz="3990" spc="-118">
                <a:solidFill>
                  <a:srgbClr val="0CA3E9"/>
                </a:solidFill>
                <a:latin typeface="Inter Bold"/>
                <a:ea typeface="Inter Bold"/>
                <a:cs typeface="Inter Bold"/>
                <a:sym typeface="Inter Bold"/>
              </a:rPr>
              <a:t>CHECK, UNIQUE, DEFAULT,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143064" y="9124845"/>
            <a:ext cx="6319409" cy="5048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1"/>
              </a:lnSpc>
            </a:pPr>
            <a:r>
              <a:rPr lang="en-US" sz="3990" spc="-118" b="true">
                <a:solidFill>
                  <a:srgbClr val="FFFFFF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and foreign keys protect data.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420195" y="5987983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Specialization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760773" y="7042242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TotalAmount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017984" y="6484991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DateOfBirth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465719" y="4948785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MedicineID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465719" y="5987983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Category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7795617" y="5475914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PatientID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17984" y="5475914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FullName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7795617" y="5987983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DoctorID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4420195" y="5475914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FullName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17984" y="4978907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PatientID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4760773" y="5521097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PatientID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4420195" y="4978907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DoctorID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17984" y="5987983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Gender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17984" y="8006136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Address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4760773" y="6530173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BillDate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7795617" y="7494067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Reason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017984" y="6981998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Phone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4420195" y="6484991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Phone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4760773" y="7539249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Status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4760773" y="4993967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BillID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7795617" y="7991075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Status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4420195" y="6981998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Email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017984" y="7494067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Email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1465719" y="6484991"/>
            <a:ext cx="2678906" cy="29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2250" spc="-67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Price</a:t>
            </a:r>
          </a:p>
        </p:txBody>
      </p:sp>
      <p:grpSp>
        <p:nvGrpSpPr>
          <p:cNvPr name="Group 51" id="51"/>
          <p:cNvGrpSpPr/>
          <p:nvPr/>
        </p:nvGrpSpPr>
        <p:grpSpPr>
          <a:xfrm rot="0">
            <a:off x="16094417" y="0"/>
            <a:ext cx="2193583" cy="2193583"/>
            <a:chOff x="0" y="0"/>
            <a:chExt cx="812800" cy="81280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3"/>
              <a:stretch>
                <a:fillRect l="-25809" t="0" r="0" b="-4421"/>
              </a:stretch>
            </a:blipFill>
          </p:spPr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26752" y="507186"/>
            <a:ext cx="16573500" cy="735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09"/>
              </a:lnSpc>
              <a:spcBef>
                <a:spcPct val="0"/>
              </a:spcBef>
            </a:pPr>
            <a:r>
              <a:rPr lang="en-US" b="true" sz="2999" spc="-120" strike="noStrike" u="none">
                <a:solidFill>
                  <a:srgbClr val="F8F8F8"/>
                </a:solidFill>
                <a:latin typeface="Inter Bold"/>
                <a:ea typeface="Inter Bold"/>
                <a:cs typeface="Inter Bold"/>
                <a:sym typeface="Inter Bold"/>
              </a:rPr>
              <a:t>1 Patient → many Appointments  |  1 Doctor → many Appointments  |  1 Patient → many Bills</a:t>
            </a:r>
          </a:p>
          <a:p>
            <a:pPr algn="l" marL="0" indent="0" lvl="0">
              <a:lnSpc>
                <a:spcPts val="2909"/>
              </a:lnSpc>
              <a:spcBef>
                <a:spcPct val="0"/>
              </a:spcBef>
            </a:pPr>
            <a:r>
              <a:rPr lang="en-US" b="true" sz="2999" spc="-120" strike="noStrike" u="none">
                <a:solidFill>
                  <a:srgbClr val="F8F8F8"/>
                </a:solidFill>
                <a:latin typeface="Inter Bold"/>
                <a:ea typeface="Inter Bold"/>
                <a:cs typeface="Inter Bold"/>
                <a:sym typeface="Inter Bold"/>
              </a:rPr>
              <a:t>No 1-to-1 relationship is defined. Medicines has no foreign-key relationship.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6094417" y="0"/>
            <a:ext cx="2193583" cy="2193583"/>
            <a:chOff x="0" y="0"/>
            <a:chExt cx="812800" cy="812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25809" t="0" r="0" b="-4421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2277546" y="1834737"/>
            <a:ext cx="13732908" cy="7977337"/>
            <a:chOff x="0" y="0"/>
            <a:chExt cx="2613416" cy="151811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613416" cy="1518113"/>
            </a:xfrm>
            <a:custGeom>
              <a:avLst/>
              <a:gdLst/>
              <a:ahLst/>
              <a:cxnLst/>
              <a:rect r="r" b="b" t="t" l="l"/>
              <a:pathLst>
                <a:path h="1518113" w="2613416">
                  <a:moveTo>
                    <a:pt x="0" y="0"/>
                  </a:moveTo>
                  <a:lnTo>
                    <a:pt x="2613416" y="0"/>
                  </a:lnTo>
                  <a:lnTo>
                    <a:pt x="2613416" y="1518113"/>
                  </a:lnTo>
                  <a:lnTo>
                    <a:pt x="0" y="1518113"/>
                  </a:lnTo>
                  <a:close/>
                </a:path>
              </a:pathLst>
            </a:custGeom>
            <a:blipFill>
              <a:blip r:embed="rId4"/>
              <a:stretch>
                <a:fillRect l="-76" t="0" r="-76" b="0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00547" y="706551"/>
            <a:ext cx="7633558" cy="12885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45"/>
              </a:lnSpc>
            </a:pPr>
            <a:r>
              <a:rPr lang="en-US" sz="9745" spc="-290" b="tru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Appointment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16039" y="2031959"/>
            <a:ext cx="6084389" cy="1352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162"/>
              </a:lnSpc>
            </a:pPr>
            <a:r>
              <a:rPr lang="en-US" sz="10162" spc="-302" b="true">
                <a:solidFill>
                  <a:srgbClr val="0099E6"/>
                </a:solidFill>
                <a:latin typeface="Inter Bold"/>
                <a:ea typeface="Inter Bold"/>
                <a:cs typeface="Inter Bold"/>
                <a:sym typeface="Inter Bold"/>
              </a:rPr>
              <a:t>workflow.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787522" y="3705944"/>
            <a:ext cx="3062584" cy="3345188"/>
          </a:xfrm>
          <a:custGeom>
            <a:avLst/>
            <a:gdLst/>
            <a:ahLst/>
            <a:cxnLst/>
            <a:rect r="r" b="b" t="t" l="l"/>
            <a:pathLst>
              <a:path h="3345188" w="3062584">
                <a:moveTo>
                  <a:pt x="0" y="0"/>
                </a:moveTo>
                <a:lnTo>
                  <a:pt x="3062583" y="0"/>
                </a:lnTo>
                <a:lnTo>
                  <a:pt x="3062583" y="3345188"/>
                </a:lnTo>
                <a:lnTo>
                  <a:pt x="0" y="33451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642" t="-1960" r="-2500" b="-653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215483" y="4111642"/>
            <a:ext cx="1681398" cy="395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b="true" sz="3062" spc="-91">
                <a:solidFill>
                  <a:srgbClr val="0099E6"/>
                </a:solidFill>
                <a:latin typeface="Inter Ultra-Bold"/>
                <a:ea typeface="Inter Ultra-Bold"/>
                <a:cs typeface="Inter Ultra-Bold"/>
                <a:sym typeface="Inter Ultra-Bold"/>
              </a:rPr>
              <a:t>PATIENT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8633" y="4657167"/>
            <a:ext cx="1366433" cy="1006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17"/>
              </a:lnSpc>
            </a:pPr>
            <a:r>
              <a:rPr lang="en-US" sz="2636" spc="-78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PatientID</a:t>
            </a:r>
          </a:p>
          <a:p>
            <a:pPr algn="l">
              <a:lnSpc>
                <a:spcPts val="4217"/>
              </a:lnSpc>
            </a:pPr>
            <a:r>
              <a:rPr lang="en-US" sz="2636" spc="-78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Details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3882919" y="4952190"/>
            <a:ext cx="1028153" cy="295164"/>
          </a:xfrm>
          <a:custGeom>
            <a:avLst/>
            <a:gdLst/>
            <a:ahLst/>
            <a:cxnLst/>
            <a:rect r="r" b="b" t="t" l="l"/>
            <a:pathLst>
              <a:path h="295164" w="1028153">
                <a:moveTo>
                  <a:pt x="0" y="0"/>
                </a:moveTo>
                <a:lnTo>
                  <a:pt x="1028153" y="0"/>
                </a:lnTo>
                <a:lnTo>
                  <a:pt x="1028153" y="295164"/>
                </a:lnTo>
                <a:lnTo>
                  <a:pt x="0" y="2951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8085" t="-11111" r="-9574" b="-4074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4965761" y="3705944"/>
            <a:ext cx="4036048" cy="3345188"/>
          </a:xfrm>
          <a:custGeom>
            <a:avLst/>
            <a:gdLst/>
            <a:ahLst/>
            <a:cxnLst/>
            <a:rect r="r" b="b" t="t" l="l"/>
            <a:pathLst>
              <a:path h="3345188" w="4036048">
                <a:moveTo>
                  <a:pt x="0" y="0"/>
                </a:moveTo>
                <a:lnTo>
                  <a:pt x="4036048" y="0"/>
                </a:lnTo>
                <a:lnTo>
                  <a:pt x="4036048" y="3345188"/>
                </a:lnTo>
                <a:lnTo>
                  <a:pt x="0" y="33451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607" t="-1960" r="-3523" b="-653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5409379" y="4111642"/>
            <a:ext cx="2880081" cy="395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b="true" sz="3062" spc="-91">
                <a:solidFill>
                  <a:srgbClr val="0099E6"/>
                </a:solidFill>
                <a:latin typeface="Inter Ultra-Bold"/>
                <a:ea typeface="Inter Ultra-Bold"/>
                <a:cs typeface="Inter Ultra-Bold"/>
                <a:sym typeface="Inter Ultra-Bold"/>
              </a:rPr>
              <a:t>APPOINTMENT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411462" y="4566802"/>
            <a:ext cx="2671808" cy="20416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17"/>
              </a:lnSpc>
            </a:pPr>
            <a:r>
              <a:rPr lang="en-US" sz="2636" spc="-78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PatientID</a:t>
            </a:r>
          </a:p>
          <a:p>
            <a:pPr algn="l">
              <a:lnSpc>
                <a:spcPts val="4217"/>
              </a:lnSpc>
            </a:pPr>
            <a:r>
              <a:rPr lang="en-US" sz="2636" spc="-78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DoctorID</a:t>
            </a:r>
          </a:p>
          <a:p>
            <a:pPr algn="l">
              <a:lnSpc>
                <a:spcPts val="4217"/>
              </a:lnSpc>
            </a:pPr>
            <a:r>
              <a:rPr lang="en-US" sz="2636" spc="-78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AppointmentDate</a:t>
            </a:r>
          </a:p>
          <a:p>
            <a:pPr algn="l">
              <a:lnSpc>
                <a:spcPts val="4217"/>
              </a:lnSpc>
            </a:pPr>
            <a:r>
              <a:rPr lang="en-US" sz="2636" spc="-78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Status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9045560" y="4952190"/>
            <a:ext cx="940651" cy="284232"/>
          </a:xfrm>
          <a:custGeom>
            <a:avLst/>
            <a:gdLst/>
            <a:ahLst/>
            <a:cxnLst/>
            <a:rect r="r" b="b" t="t" l="l"/>
            <a:pathLst>
              <a:path h="284232" w="940651">
                <a:moveTo>
                  <a:pt x="0" y="0"/>
                </a:moveTo>
                <a:lnTo>
                  <a:pt x="940651" y="0"/>
                </a:lnTo>
                <a:lnTo>
                  <a:pt x="940651" y="284232"/>
                </a:lnTo>
                <a:lnTo>
                  <a:pt x="0" y="2842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2790" t="-11538" r="-3488" b="-46153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0029962" y="3705944"/>
            <a:ext cx="2964144" cy="3345188"/>
          </a:xfrm>
          <a:custGeom>
            <a:avLst/>
            <a:gdLst/>
            <a:ahLst/>
            <a:cxnLst/>
            <a:rect r="r" b="b" t="t" l="l"/>
            <a:pathLst>
              <a:path h="3345188" w="2964144">
                <a:moveTo>
                  <a:pt x="0" y="0"/>
                </a:moveTo>
                <a:lnTo>
                  <a:pt x="2964143" y="0"/>
                </a:lnTo>
                <a:lnTo>
                  <a:pt x="2964143" y="3345188"/>
                </a:lnTo>
                <a:lnTo>
                  <a:pt x="0" y="33451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738" t="-1960" r="-2583" b="-653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0484702" y="4111642"/>
            <a:ext cx="1661053" cy="395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b="true" sz="3062" spc="-91">
                <a:solidFill>
                  <a:srgbClr val="0099E6"/>
                </a:solidFill>
                <a:latin typeface="Inter Ultra-Bold"/>
                <a:ea typeface="Inter Ultra-Bold"/>
                <a:cs typeface="Inter Ultra-Bold"/>
                <a:sym typeface="Inter Ultra-Bold"/>
              </a:rPr>
              <a:t>DOCTOR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487892" y="4657167"/>
            <a:ext cx="1342076" cy="1006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17"/>
              </a:lnSpc>
            </a:pPr>
            <a:r>
              <a:rPr lang="en-US" sz="2636" spc="-78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DoctorID</a:t>
            </a:r>
          </a:p>
          <a:p>
            <a:pPr algn="l">
              <a:lnSpc>
                <a:spcPts val="4217"/>
              </a:lnSpc>
            </a:pPr>
            <a:r>
              <a:rPr lang="en-US" sz="2636" spc="-78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Details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13026919" y="4952190"/>
            <a:ext cx="962526" cy="295164"/>
          </a:xfrm>
          <a:custGeom>
            <a:avLst/>
            <a:gdLst/>
            <a:ahLst/>
            <a:cxnLst/>
            <a:rect r="r" b="b" t="t" l="l"/>
            <a:pathLst>
              <a:path h="295164" w="962526">
                <a:moveTo>
                  <a:pt x="0" y="0"/>
                </a:moveTo>
                <a:lnTo>
                  <a:pt x="962526" y="0"/>
                </a:lnTo>
                <a:lnTo>
                  <a:pt x="962526" y="295164"/>
                </a:lnTo>
                <a:lnTo>
                  <a:pt x="0" y="29516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9318" t="-11111" r="-17045" b="-4074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4022258" y="3705944"/>
            <a:ext cx="3248526" cy="3345188"/>
          </a:xfrm>
          <a:custGeom>
            <a:avLst/>
            <a:gdLst/>
            <a:ahLst/>
            <a:cxnLst/>
            <a:rect r="r" b="b" t="t" l="l"/>
            <a:pathLst>
              <a:path h="3345188" w="3248526">
                <a:moveTo>
                  <a:pt x="0" y="0"/>
                </a:moveTo>
                <a:lnTo>
                  <a:pt x="3248527" y="0"/>
                </a:lnTo>
                <a:lnTo>
                  <a:pt x="3248527" y="3345188"/>
                </a:lnTo>
                <a:lnTo>
                  <a:pt x="0" y="334518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030" t="-1960" r="-4713" b="-653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4415195" y="4111553"/>
            <a:ext cx="2410920" cy="374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23"/>
              </a:lnSpc>
            </a:pPr>
            <a:r>
              <a:rPr lang="en-US" b="true" sz="2923" spc="-87">
                <a:solidFill>
                  <a:srgbClr val="001930"/>
                </a:solidFill>
                <a:latin typeface="Inter Ultra-Bold"/>
                <a:ea typeface="Inter Ultra-Bold"/>
                <a:cs typeface="Inter Ultra-Bold"/>
                <a:sym typeface="Inter Ultra-Bold"/>
              </a:rPr>
              <a:t>JOINED VIEW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415202" y="4685732"/>
            <a:ext cx="2410314" cy="1475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55"/>
              </a:lnSpc>
            </a:pPr>
            <a:r>
              <a:rPr lang="en-US" sz="2636" spc="-78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Appointments with patient and doctor details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37550" y="7497504"/>
            <a:ext cx="9291105" cy="1842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11"/>
              </a:lnSpc>
            </a:pPr>
            <a:r>
              <a:rPr lang="en-US" sz="3341" spc="-99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Capture key details in </a:t>
            </a:r>
            <a:r>
              <a:rPr lang="en-US" sz="3341" spc="-99" b="true">
                <a:solidFill>
                  <a:srgbClr val="0099E6"/>
                </a:solidFill>
                <a:latin typeface="Inter Bold"/>
                <a:ea typeface="Inter Bold"/>
                <a:cs typeface="Inter Bold"/>
                <a:sym typeface="Inter Bold"/>
              </a:rPr>
              <a:t>Appointments</a:t>
            </a:r>
          </a:p>
          <a:p>
            <a:pPr algn="l">
              <a:lnSpc>
                <a:spcPts val="5011"/>
              </a:lnSpc>
            </a:pPr>
            <a:r>
              <a:rPr lang="en-US" sz="3341" spc="-99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Link each appointment to a </a:t>
            </a:r>
            <a:r>
              <a:rPr lang="en-US" sz="3341" spc="-99" b="true">
                <a:solidFill>
                  <a:srgbClr val="0099E6"/>
                </a:solidFill>
                <a:latin typeface="Inter Bold"/>
                <a:ea typeface="Inter Bold"/>
                <a:cs typeface="Inter Bold"/>
                <a:sym typeface="Inter Bold"/>
              </a:rPr>
              <a:t>patient</a:t>
            </a:r>
            <a:r>
              <a:rPr lang="en-US" sz="3341" spc="-99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 and a </a:t>
            </a:r>
            <a:r>
              <a:rPr lang="en-US" sz="3341" spc="-99" b="true">
                <a:solidFill>
                  <a:srgbClr val="0099E6"/>
                </a:solidFill>
                <a:latin typeface="Inter Bold"/>
                <a:ea typeface="Inter Bold"/>
                <a:cs typeface="Inter Bold"/>
                <a:sym typeface="Inter Bold"/>
              </a:rPr>
              <a:t>doctor</a:t>
            </a:r>
          </a:p>
          <a:p>
            <a:pPr algn="l">
              <a:lnSpc>
                <a:spcPts val="5011"/>
              </a:lnSpc>
            </a:pPr>
            <a:r>
              <a:rPr lang="en-US" sz="3341" spc="-99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Join data for a </a:t>
            </a:r>
            <a:r>
              <a:rPr lang="en-US" sz="3341" spc="-99" b="true">
                <a:solidFill>
                  <a:srgbClr val="0099E6"/>
                </a:solidFill>
                <a:latin typeface="Inter Bold"/>
                <a:ea typeface="Inter Bold"/>
                <a:cs typeface="Inter Bold"/>
                <a:sym typeface="Inter Bold"/>
              </a:rPr>
              <a:t>complete, readable</a:t>
            </a:r>
            <a:r>
              <a:rPr lang="en-US" sz="3341" spc="-99" b="tru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 view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6094417" y="0"/>
            <a:ext cx="2193583" cy="2193583"/>
            <a:chOff x="0" y="0"/>
            <a:chExt cx="812800" cy="812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25809" t="0" r="0" b="-4421"/>
              </a:stretch>
            </a:blipFill>
          </p:spPr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37854" y="520392"/>
            <a:ext cx="3902924" cy="14073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580"/>
              </a:lnSpc>
            </a:pPr>
            <a:r>
              <a:rPr lang="en-US" sz="10580" spc="-211" b="true">
                <a:solidFill>
                  <a:srgbClr val="F8F8F8"/>
                </a:solidFill>
                <a:latin typeface="Inter Bold"/>
                <a:ea typeface="Inter Bold"/>
                <a:cs typeface="Inter Bold"/>
                <a:sym typeface="Inter Bold"/>
              </a:rPr>
              <a:t>Billing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12321" y="1936111"/>
            <a:ext cx="6456199" cy="14073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580"/>
              </a:lnSpc>
            </a:pPr>
            <a:r>
              <a:rPr lang="en-US" sz="10580" spc="-211" b="true">
                <a:solidFill>
                  <a:srgbClr val="0086DD"/>
                </a:solidFill>
                <a:latin typeface="Inter Bold"/>
                <a:ea typeface="Inter Bold"/>
                <a:cs typeface="Inter Bold"/>
                <a:sym typeface="Inter Bold"/>
              </a:rPr>
              <a:t>workflow.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34725" y="3548926"/>
            <a:ext cx="6894694" cy="4714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19"/>
              </a:lnSpc>
            </a:pPr>
            <a:r>
              <a:rPr lang="en-US" sz="3619" spc="-72" b="true">
                <a:solidFill>
                  <a:srgbClr val="F8F8F8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From patient to payment status.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776584" y="4514911"/>
            <a:ext cx="4932947" cy="2077078"/>
          </a:xfrm>
          <a:custGeom>
            <a:avLst/>
            <a:gdLst/>
            <a:ahLst/>
            <a:cxnLst/>
            <a:rect r="r" b="b" t="t" l="l"/>
            <a:pathLst>
              <a:path h="2077078" w="4932947">
                <a:moveTo>
                  <a:pt x="0" y="0"/>
                </a:moveTo>
                <a:lnTo>
                  <a:pt x="4932947" y="0"/>
                </a:lnTo>
                <a:lnTo>
                  <a:pt x="4932947" y="2077077"/>
                </a:lnTo>
                <a:lnTo>
                  <a:pt x="0" y="20770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660" t="-1052" r="-3547" b="-2631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30382" y="4989267"/>
            <a:ext cx="2143430" cy="504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98"/>
              </a:lnSpc>
            </a:pPr>
            <a:r>
              <a:rPr lang="en-US" b="true" sz="3898" spc="-78">
                <a:solidFill>
                  <a:srgbClr val="F8F8F8"/>
                </a:solidFill>
                <a:latin typeface="Inter Bold"/>
                <a:ea typeface="Inter Bold"/>
                <a:cs typeface="Inter Bold"/>
                <a:sym typeface="Inter Bold"/>
              </a:rPr>
              <a:t>PATIENT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04195" y="5713591"/>
            <a:ext cx="2461778" cy="362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4"/>
              </a:lnSpc>
            </a:pPr>
            <a:r>
              <a:rPr lang="en-US" sz="2784" spc="-55" b="true">
                <a:solidFill>
                  <a:srgbClr val="F8F8F8"/>
                </a:solidFill>
                <a:latin typeface="Inter Medium"/>
                <a:ea typeface="Inter Medium"/>
                <a:cs typeface="Inter Medium"/>
                <a:sym typeface="Inter Medium"/>
              </a:rPr>
              <a:t>Identify patient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5807971" y="5312946"/>
            <a:ext cx="864086" cy="459143"/>
          </a:xfrm>
          <a:custGeom>
            <a:avLst/>
            <a:gdLst/>
            <a:ahLst/>
            <a:cxnLst/>
            <a:rect r="r" b="b" t="t" l="l"/>
            <a:pathLst>
              <a:path h="459143" w="864086">
                <a:moveTo>
                  <a:pt x="0" y="0"/>
                </a:moveTo>
                <a:lnTo>
                  <a:pt x="864086" y="0"/>
                </a:lnTo>
                <a:lnTo>
                  <a:pt x="864086" y="459143"/>
                </a:lnTo>
                <a:lnTo>
                  <a:pt x="0" y="4591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7721" t="-38095" r="-10126" b="-4761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6781435" y="4514911"/>
            <a:ext cx="4309493" cy="2077078"/>
          </a:xfrm>
          <a:custGeom>
            <a:avLst/>
            <a:gdLst/>
            <a:ahLst/>
            <a:cxnLst/>
            <a:rect r="r" b="b" t="t" l="l"/>
            <a:pathLst>
              <a:path h="2077078" w="4309493">
                <a:moveTo>
                  <a:pt x="0" y="0"/>
                </a:moveTo>
                <a:lnTo>
                  <a:pt x="4309493" y="0"/>
                </a:lnTo>
                <a:lnTo>
                  <a:pt x="4309493" y="2077077"/>
                </a:lnTo>
                <a:lnTo>
                  <a:pt x="0" y="20770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761" t="-1052" r="-507" b="-2631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8399052" y="4989267"/>
            <a:ext cx="1010194" cy="504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98"/>
              </a:lnSpc>
            </a:pPr>
            <a:r>
              <a:rPr lang="en-US" b="true" sz="3898" spc="-78">
                <a:solidFill>
                  <a:srgbClr val="F8F8F8"/>
                </a:solidFill>
                <a:latin typeface="Inter Bold"/>
                <a:ea typeface="Inter Bold"/>
                <a:cs typeface="Inter Bold"/>
                <a:sym typeface="Inter Bold"/>
              </a:rPr>
              <a:t>BILL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073749" y="5713591"/>
            <a:ext cx="1654762" cy="362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4"/>
              </a:lnSpc>
            </a:pPr>
            <a:r>
              <a:rPr lang="en-US" sz="2784" spc="-55" b="true">
                <a:solidFill>
                  <a:srgbClr val="F8F8F8"/>
                </a:solidFill>
                <a:latin typeface="Inter Medium"/>
                <a:ea typeface="Inter Medium"/>
                <a:cs typeface="Inter Medium"/>
                <a:sym typeface="Inter Medium"/>
              </a:rPr>
              <a:t>Create bill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1189368" y="5312946"/>
            <a:ext cx="875024" cy="459143"/>
          </a:xfrm>
          <a:custGeom>
            <a:avLst/>
            <a:gdLst/>
            <a:ahLst/>
            <a:cxnLst/>
            <a:rect r="r" b="b" t="t" l="l"/>
            <a:pathLst>
              <a:path h="459143" w="875024">
                <a:moveTo>
                  <a:pt x="0" y="0"/>
                </a:moveTo>
                <a:lnTo>
                  <a:pt x="875024" y="0"/>
                </a:lnTo>
                <a:lnTo>
                  <a:pt x="875024" y="459143"/>
                </a:lnTo>
                <a:lnTo>
                  <a:pt x="0" y="4591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0000" t="-38095" r="-14999" b="-4761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2162833" y="4514911"/>
            <a:ext cx="5173579" cy="2077078"/>
          </a:xfrm>
          <a:custGeom>
            <a:avLst/>
            <a:gdLst/>
            <a:ahLst/>
            <a:cxnLst/>
            <a:rect r="r" b="b" t="t" l="l"/>
            <a:pathLst>
              <a:path h="2077078" w="5173579">
                <a:moveTo>
                  <a:pt x="0" y="0"/>
                </a:moveTo>
                <a:lnTo>
                  <a:pt x="5173578" y="0"/>
                </a:lnTo>
                <a:lnTo>
                  <a:pt x="5173578" y="2077077"/>
                </a:lnTo>
                <a:lnTo>
                  <a:pt x="0" y="20770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3805" t="-1052" r="-1691" b="-2631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2575159" y="4979215"/>
            <a:ext cx="4285503" cy="471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8"/>
              </a:lnSpc>
            </a:pPr>
            <a:r>
              <a:rPr lang="en-US" b="true" sz="3638" spc="-72">
                <a:solidFill>
                  <a:srgbClr val="F8F8F8"/>
                </a:solidFill>
                <a:latin typeface="Inter Bold"/>
                <a:ea typeface="Inter Bold"/>
                <a:cs typeface="Inter Bold"/>
                <a:sym typeface="Inter Bold"/>
              </a:rPr>
              <a:t>PAYMENT STATUS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532010" y="5713591"/>
            <a:ext cx="2325534" cy="3622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4"/>
              </a:lnSpc>
            </a:pPr>
            <a:r>
              <a:rPr lang="en-US" sz="2784" spc="-55" b="true">
                <a:solidFill>
                  <a:srgbClr val="F8F8F8"/>
                </a:solidFill>
                <a:latin typeface="Inter Medium"/>
                <a:ea typeface="Inter Medium"/>
                <a:cs typeface="Inter Medium"/>
                <a:sym typeface="Inter Medium"/>
              </a:rPr>
              <a:t>Lookup status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91968" y="7263454"/>
            <a:ext cx="1170343" cy="504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8"/>
              </a:lnSpc>
            </a:pPr>
            <a:r>
              <a:rPr lang="en-US" sz="3898" spc="-78" b="true">
                <a:solidFill>
                  <a:srgbClr val="F8F8F8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Save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033115" y="7263454"/>
            <a:ext cx="8322142" cy="504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8"/>
              </a:lnSpc>
            </a:pPr>
            <a:r>
              <a:rPr lang="en-US" sz="3898" spc="-78" b="true">
                <a:solidFill>
                  <a:srgbClr val="0086DD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patient_id, amount, payment_status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93717" y="8091800"/>
            <a:ext cx="995499" cy="504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8"/>
              </a:lnSpc>
            </a:pPr>
            <a:r>
              <a:rPr lang="en-US" sz="3898" spc="-78" b="true">
                <a:solidFill>
                  <a:srgbClr val="F8F8F8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Join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893326" y="8091800"/>
            <a:ext cx="3548620" cy="504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8"/>
              </a:lnSpc>
            </a:pPr>
            <a:r>
              <a:rPr lang="en-US" sz="3898" spc="-78" b="true">
                <a:solidFill>
                  <a:srgbClr val="0086DD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Bills to </a:t>
            </a:r>
            <a:r>
              <a:rPr lang="en-US" sz="3898" spc="-78" b="true">
                <a:solidFill>
                  <a:srgbClr val="38A8F1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Patients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62669" y="8920146"/>
            <a:ext cx="4100304" cy="504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8"/>
              </a:lnSpc>
            </a:pPr>
            <a:r>
              <a:rPr lang="en-US" sz="3898" spc="-78" b="true">
                <a:solidFill>
                  <a:srgbClr val="F8F8F8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Track and update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5000065" y="8920146"/>
            <a:ext cx="3627834" cy="504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8"/>
              </a:lnSpc>
            </a:pPr>
            <a:r>
              <a:rPr lang="en-US" sz="3898" spc="-78" b="true">
                <a:solidFill>
                  <a:srgbClr val="0086DD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payment status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094417" y="0"/>
            <a:ext cx="2193583" cy="2193583"/>
            <a:chOff x="0" y="0"/>
            <a:chExt cx="812800" cy="8128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25809" t="0" r="0" b="-4421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DAHZXTvlSVU</dc:identifier>
  <dcterms:modified xsi:type="dcterms:W3CDTF">2011-08-01T06:04:30Z</dcterms:modified>
  <cp:revision>1</cp:revision>
  <dc:title>LifeBridgePro SQL Deck</dc:title>
</cp:coreProperties>
</file>